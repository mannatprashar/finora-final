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D99169"/>
                </a:solidFill>
              </a:rPr>
              <a:t>Finora · educational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The percentages show how the total value of goods and services produced in India changed year‑over‑year after adjusting for inflation.</a:t>
            </a:r>
          </a:p>
          <a:p>
            <a:pPr/>
            <a:r>
              <a:rPr sz="2000">
                <a:solidFill>
                  <a:srgbClr val="DED5C5"/>
                </a:solidFill>
              </a:rPr>
              <a:t>These figures are historical data, not forecasts.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GDP Growth Overview (2019‑2023)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2019: +4.0 % – moderate expansion supported by consumption, investment, and export growth.</a:t>
            </a:r>
          </a:p>
          <a:p>
            <a:pPr/>
            <a:r>
              <a:rPr sz="2000">
                <a:solidFill>
                  <a:srgbClr val="DED5C5"/>
                </a:solidFill>
              </a:rPr>
              <a:t>2020: ‑6.6 % – sharp contraction caused by COVID‑19 lockdowns, reduced manufacturing, services, and private consumption.</a:t>
            </a:r>
          </a:p>
          <a:p>
            <a:pPr/>
            <a:r>
              <a:rPr sz="2000">
                <a:solidFill>
                  <a:srgbClr val="DED5C5"/>
                </a:solidFill>
              </a:rPr>
              <a:t>2021: +8.7 % – strong rebound driven by pent‑up demand, revival of services, investment, and fiscal stimulus.</a:t>
            </a:r>
          </a:p>
          <a:p>
            <a:pPr/>
            <a:r>
              <a:rPr sz="2000">
                <a:solidFill>
                  <a:srgbClr val="DED5C5"/>
                </a:solidFill>
              </a:rPr>
              <a:t>2022: +7.2 % – robust growth slowed slightly due to higher energy prices, tighter monetary policy, and supply‑chain bottlenecks.</a:t>
            </a:r>
          </a:p>
          <a:p>
            <a:pPr/>
            <a:r>
              <a:rPr sz="2000">
                <a:solidFill>
                  <a:srgbClr val="DED5C5"/>
                </a:solidFill>
              </a:rPr>
              <a:t>2023: +8.2 % – acceleration attributed to continued strong domestic consumption, resilient services, and improved manufacturing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Key Drivers Behind the Year‑to‑Year Swings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Health crises (COVID‑19) can trigger nationwide lockdowns that cut manufacturing, services, and exports.</a:t>
            </a:r>
          </a:p>
          <a:p>
            <a:pPr/>
            <a:r>
              <a:rPr sz="2000">
                <a:solidFill>
                  <a:srgbClr val="DED5C5"/>
                </a:solidFill>
              </a:rPr>
              <a:t>Rebound effects occur when restrictions ease, releasing pent‑up consumer demand.</a:t>
            </a:r>
          </a:p>
          <a:p>
            <a:pPr/>
            <a:r>
              <a:rPr sz="2000">
                <a:solidFill>
                  <a:srgbClr val="DED5C5"/>
                </a:solidFill>
              </a:rPr>
              <a:t>Policy actions such as fiscal stimulus and monetary tightening influence the pace of growth.</a:t>
            </a:r>
          </a:p>
          <a:p>
            <a:pPr/>
            <a:r>
              <a:rPr sz="2000">
                <a:solidFill>
                  <a:srgbClr val="DED5C5"/>
                </a:solidFill>
              </a:rPr>
              <a:t>External factors like global demand, commodity prices, and supply‑chain disruptions add volatility.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Personal‑Finance Implications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During a contraction (2020) households may face lower income or job insecurity – an emergency reserve becomes especially important.</a:t>
            </a:r>
          </a:p>
          <a:p>
            <a:pPr/>
            <a:r>
              <a:rPr sz="2000">
                <a:solidFill>
                  <a:srgbClr val="DED5C5"/>
                </a:solidFill>
              </a:rPr>
              <a:t>Higher growth periods (2021‑2023) can support budgeting for savings, debt repayment, and investment, but returns are not guaranteed (RBI guidance).</a:t>
            </a:r>
          </a:p>
          <a:p>
            <a:pPr/>
            <a:r>
              <a:rPr sz="2000">
                <a:solidFill>
                  <a:srgbClr val="DED5C5"/>
                </a:solidFill>
              </a:rPr>
              <a:t>RBI advises tracking income, expenses, savings, and debt payments to stay resilient regardless of macro‑economic swings.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2019‑2023 illustrate a sharp dip in 2020 followed by a strong rebound and continued high growth.</a:t>
            </a:r>
          </a:p>
          <a:p>
            <a:pPr/>
            <a:r>
              <a:rPr sz="2000">
                <a:solidFill>
                  <a:srgbClr val="DED5C5"/>
                </a:solidFill>
              </a:rPr>
              <a:t>External shocks can dramatically affect economic performance, highlighting the need for personal‑financial resilience.</a:t>
            </a:r>
          </a:p>
          <a:p>
            <a:pPr/>
            <a:r>
              <a:rPr sz="2000">
                <a:solidFill>
                  <a:srgbClr val="DED5C5"/>
                </a:solidFill>
              </a:rPr>
              <a:t>Maintain emergency savings, realistic investment expectations, and disciplined budgeting to navigate volatility.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[S1] RBI guidance on investment return projections</a:t>
            </a:r>
          </a:p>
          <a:p>
            <a:pPr/>
            <a:r>
              <a:rPr sz="2000">
                <a:solidFill>
                  <a:srgbClr val="DED5C5"/>
                </a:solidFill>
              </a:rPr>
              <a:t>[S2] RBI guidance on savings and emergency funds</a:t>
            </a:r>
          </a:p>
          <a:p>
            <a:pPr/>
            <a:r>
              <a:rPr sz="2000">
                <a:solidFill>
                  <a:srgbClr val="DED5C5"/>
                </a:solidFill>
              </a:rPr>
              <a:t>[S3] RBI guidance on household budgeting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Figures from the material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11480">
                <a:tc>
                  <a:txBody>
                    <a:bodyPr/>
                    <a:lstStyle/>
                    <a:p>
                      <a: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India GDP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