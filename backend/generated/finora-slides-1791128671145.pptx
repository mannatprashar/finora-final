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1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3200">
                <a:solidFill>
                  <a:srgbClr val="F3EFE6"/>
                </a:solidFill>
                <a:latin typeface="Calibri"/>
              </a:rPr>
              <a:t>Finora Financial Overview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sz="1800">
                <a:solidFill>
                  <a:srgbClr val="D99169"/>
                </a:solidFill>
              </a:rPr>
              <a:t>Finora · educational briefing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1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>
                <a:solidFill>
                  <a:srgbClr val="F3EFE6"/>
                </a:solidFill>
                <a:latin typeface="Calibri"/>
              </a:rP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>
                <a:solidFill>
                  <a:srgbClr val="DED5C5"/>
                </a:solidFill>
              </a:rPr>
              <a:t>Finora explains money concepts, explores scenarios, and interprets numbers in your workspace</a:t>
            </a:r>
          </a:p>
          <a:p>
            <a:pPr/>
            <a:r>
              <a:rPr sz="2000">
                <a:solidFill>
                  <a:srgbClr val="DED5C5"/>
                </a:solidFill>
              </a:rPr>
              <a:t>Finora shows assumptions and keeps the maths transparent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1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>
                <a:solidFill>
                  <a:srgbClr val="F3EFE6"/>
                </a:solidFill>
                <a:latin typeface="Calibri"/>
              </a:rPr>
              <a:t>Major Concepts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>
                <a:solidFill>
                  <a:srgbClr val="DED5C5"/>
                </a:solidFill>
              </a:rPr>
              <a:t>Monthly savings</a:t>
            </a:r>
          </a:p>
          <a:p>
            <a:pPr/>
            <a:r>
              <a:rPr sz="2000">
                <a:solidFill>
                  <a:srgbClr val="DED5C5"/>
                </a:solidFill>
              </a:rPr>
              <a:t>Savings horizon</a:t>
            </a:r>
          </a:p>
          <a:p>
            <a:pPr/>
            <a:r>
              <a:rPr sz="2000">
                <a:solidFill>
                  <a:srgbClr val="DED5C5"/>
                </a:solidFill>
              </a:rPr>
              <a:t>Illustrative annual rate</a:t>
            </a:r>
          </a:p>
          <a:p>
            <a:pPr/>
            <a:r>
              <a:rPr sz="2000">
                <a:solidFill>
                  <a:srgbClr val="DED5C5"/>
                </a:solidFill>
              </a:rPr>
              <a:t>Projected value</a:t>
            </a:r>
          </a:p>
          <a:p>
            <a:pPr/>
            <a:r>
              <a:rPr sz="2000">
                <a:solidFill>
                  <a:srgbClr val="DED5C5"/>
                </a:solidFill>
              </a:rPr>
              <a:t>Monthly income vs. expenses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1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>
                <a:solidFill>
                  <a:srgbClr val="F3EFE6"/>
                </a:solidFill>
                <a:latin typeface="Calibri"/>
              </a:rPr>
              <a:t>Example Scenario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>
                <a:solidFill>
                  <a:srgbClr val="DED5C5"/>
                </a:solidFill>
              </a:rPr>
              <a:t>Monthly savings: 5000</a:t>
            </a:r>
          </a:p>
          <a:p>
            <a:pPr/>
            <a:r>
              <a:rPr sz="2000">
                <a:solidFill>
                  <a:srgbClr val="DED5C5"/>
                </a:solidFill>
              </a:rPr>
              <a:t>Horizon: 24 months</a:t>
            </a:r>
          </a:p>
          <a:p>
            <a:pPr/>
            <a:r>
              <a:rPr sz="2000">
                <a:solidFill>
                  <a:srgbClr val="DED5C5"/>
                </a:solidFill>
              </a:rPr>
              <a:t>Illustrative annual rate: 8%</a:t>
            </a:r>
          </a:p>
          <a:p>
            <a:pPr/>
            <a:r>
              <a:rPr sz="2000">
                <a:solidFill>
                  <a:srgbClr val="DED5C5"/>
                </a:solidFill>
              </a:rPr>
              <a:t>Projected value: 129666</a:t>
            </a:r>
          </a:p>
          <a:p>
            <a:pPr/>
            <a:r>
              <a:rPr sz="2000">
                <a:solidFill>
                  <a:srgbClr val="DED5C5"/>
                </a:solidFill>
              </a:rPr>
              <a:t>Monthly income: 40000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1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>
                <a:solidFill>
                  <a:srgbClr val="F3EFE6"/>
                </a:solidFill>
                <a:latin typeface="Calibri"/>
              </a:rPr>
              <a:t>Interpretation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>
                <a:solidFill>
                  <a:srgbClr val="DED5C5"/>
                </a:solidFill>
              </a:rPr>
              <a:t>Savings grow to 129666 over 24 months at an 8% annual rate</a:t>
            </a:r>
          </a:p>
          <a:p>
            <a:pPr/>
            <a:r>
              <a:rPr sz="2000">
                <a:solidFill>
                  <a:srgbClr val="DED5C5"/>
                </a:solidFill>
              </a:rPr>
              <a:t>After expenses, 12000 remains each month</a:t>
            </a:r>
          </a:p>
          <a:p>
            <a:pPr/>
            <a:r>
              <a:rPr sz="2000">
                <a:solidFill>
                  <a:srgbClr val="DED5C5"/>
                </a:solidFill>
              </a:rPr>
              <a:t>Loan EMI is estimated at 9680 for a 3‑year term at a 10% annual rate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1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>
                <a:solidFill>
                  <a:srgbClr val="F3EFE6"/>
                </a:solidFill>
                <a:latin typeface="Calibri"/>
              </a:rP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>
                <a:solidFill>
                  <a:srgbClr val="DED5C5"/>
                </a:solidFill>
              </a:rPr>
              <a:t>Finora provides transparent calculations for savings and loan scenarios</a:t>
            </a:r>
          </a:p>
          <a:p>
            <a:pPr/>
            <a:r>
              <a:rPr sz="2000">
                <a:solidFill>
                  <a:srgbClr val="DED5C5"/>
                </a:solidFill>
              </a:rPr>
              <a:t>Use the shown assumptions to plan your finances</a:t>
            </a:r>
          </a:p>
          <a:p>
            <a:pPr/>
            <a:r>
              <a:rPr sz="2000">
                <a:solidFill>
                  <a:srgbClr val="DED5C5"/>
                </a:solidFill>
              </a:rPr>
              <a:t>Ask Finora for further explanations of any money concept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1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>
                <a:solidFill>
                  <a:srgbClr val="F3EFE6"/>
                </a:solidFill>
                <a:latin typeface="Calibri"/>
              </a:rPr>
              <a:t>Figures from the material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645920"/>
          <a:ext cx="10515600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57800"/>
                <a:gridCol w="5257800"/>
              </a:tblGrid>
              <a:tr h="411480">
                <a:tc>
                  <a:txBody>
                    <a:bodyPr/>
                    <a:lstStyle/>
                    <a:p>
                      <a:r>
                        <a:t>Label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Value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r>
                        <a:t>monthly savings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5000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r>
                        <a:t>horizon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24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r>
                        <a:t>illustrative annual rate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r>
                        <a:t>projected value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129666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r>
                        <a:t>monthly income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40000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