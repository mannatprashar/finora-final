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D99169"/>
                </a:solidFill>
              </a:rPr>
              <a:t>Finora · educational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Real‑GDP growth measures how much the total value of goods and services produced in India changed compared with the previous year, after adjusting for inflation.</a:t>
            </a:r>
          </a:p>
          <a:p>
            <a:pPr/>
            <a:r>
              <a:rPr sz="2000">
                <a:solidFill>
                  <a:srgbClr val="DED5C5"/>
                </a:solidFill>
              </a:rPr>
              <a:t>The reported percentages for 2019‑2023 are: 2019 +4.0 %, 2020 ‑6.6 %, 2021 +8.7 %, 2022 +7.2 %, 2023 +8.2 %.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Year‑by‑Year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2019 +4.0 % – Moderate expansion supported by consumption, investment, and export growth; no major shocks.</a:t>
            </a:r>
          </a:p>
          <a:p>
            <a:pPr/>
            <a:r>
              <a:rPr sz="2000">
                <a:solidFill>
                  <a:srgbClr val="DED5C5"/>
                </a:solidFill>
              </a:rPr>
              <a:t>2020 ‑6.6 % – COVID‑19 lockdowns sharply curbed manufacturing, services, and private consumption; supply‑chain disruptions and reduced global demand hit exports.</a:t>
            </a:r>
          </a:p>
          <a:p>
            <a:pPr/>
            <a:r>
              <a:rPr sz="2000">
                <a:solidFill>
                  <a:srgbClr val="DED5C5"/>
                </a:solidFill>
              </a:rPr>
              <a:t>2021 +8.7 % – Strong rebound from pent‑up consumer demand, revival of services, resurgence in investment, and fiscal stimulus.</a:t>
            </a:r>
          </a:p>
          <a:p>
            <a:pPr/>
            <a:r>
              <a:rPr sz="2000">
                <a:solidFill>
                  <a:srgbClr val="DED5C5"/>
                </a:solidFill>
              </a:rPr>
              <a:t>2022 +7.2 % – Robust growth slowed slightly as the economy moved to sustainable expansion; higher energy prices and tighter monetary policy moderated pace.</a:t>
            </a:r>
          </a:p>
          <a:p>
            <a:pPr/>
            <a:r>
              <a:rPr sz="2000">
                <a:solidFill>
                  <a:srgbClr val="DED5C5"/>
                </a:solidFill>
              </a:rPr>
              <a:t>2023 +8.2 % – Acceleration attributed to continued strong domestic consumption, resilient services sector, and improvements in manufacturing output.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Example: 2020 Contraction and Household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COVID‑19 lockdowns sharply curbed manufacturing, services, and private consumption.</a:t>
            </a:r>
          </a:p>
          <a:p>
            <a:pPr/>
            <a:r>
              <a:rPr sz="2000">
                <a:solidFill>
                  <a:srgbClr val="DED5C5"/>
                </a:solidFill>
              </a:rPr>
              <a:t>Households faced lower income or job insecurity, highlighting the importance of an emergency reserve.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Personal‑Finance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Budgeting and savings become critical during economic contraction; maintain an emergency fund as RBI advises.</a:t>
            </a:r>
          </a:p>
          <a:p>
            <a:pPr/>
            <a:r>
              <a:rPr sz="2000">
                <a:solidFill>
                  <a:srgbClr val="DED5C5"/>
                </a:solidFill>
              </a:rPr>
              <a:t>Investment expectations should be based on the specific product’s risk profile, not on headline GDP growth (RBI reminder).</a:t>
            </a:r>
          </a:p>
          <a:p>
            <a:pPr/>
            <a:r>
              <a:rPr sz="2000">
                <a:solidFill>
                  <a:srgbClr val="DED5C5"/>
                </a:solidFill>
              </a:rPr>
              <a:t>Debt planning must consider possible interest‑rate adjustments linked to growth cycles; track income, expenses, savings, and loan payments.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2019‑2023 show a sharp dip in 2020, a strong rebound, and continued high growth.</a:t>
            </a:r>
          </a:p>
          <a:p>
            <a:pPr/>
            <a:r>
              <a:rPr sz="2000">
                <a:solidFill>
                  <a:srgbClr val="DED5C5"/>
                </a:solidFill>
              </a:rPr>
              <a:t>External shocks can dramatically affect economic performance, underscoring the need for personal‑financial resilience.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[S1] RBI guidance on investment projections.</a:t>
            </a:r>
          </a:p>
          <a:p>
            <a:pPr/>
            <a:r>
              <a:rPr sz="2000">
                <a:solidFill>
                  <a:srgbClr val="DED5C5"/>
                </a:solidFill>
              </a:rPr>
              <a:t>[S2] RBI guidance on savings and emergency funds.</a:t>
            </a:r>
          </a:p>
          <a:p>
            <a:pPr/>
            <a:r>
              <a:rPr sz="2000">
                <a:solidFill>
                  <a:srgbClr val="DED5C5"/>
                </a:solidFill>
              </a:rPr>
              <a:t>[S3] RBI advice on household budgeting.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Figures from the material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11480">
                <a:tc>
                  <a:txBody>
                    <a:bodyPr/>
                    <a:lstStyle/>
                    <a:p>
                      <a:r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India GDP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2019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was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was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was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8.7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was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